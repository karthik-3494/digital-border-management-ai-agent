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1D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/>
          <p:nvPr/>
        </p:nvSpPr>
        <p:spPr>
          <a:xfrm>
            <a:off x="4490850" y="316974"/>
            <a:ext cx="9306300" cy="6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C496A6"/>
                </a:solidFill>
              </a:rPr>
              <a:t>PROTOCOL &amp; CODELOCKED</a:t>
            </a:r>
            <a:endParaRPr sz="7200" b="1" dirty="0">
              <a:solidFill>
                <a:srgbClr val="C496A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C496A6"/>
                </a:solidFill>
              </a:rPr>
              <a:t>presents</a:t>
            </a:r>
            <a:endParaRPr sz="4800" dirty="0">
              <a:solidFill>
                <a:srgbClr val="C496A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i="1" dirty="0">
                <a:solidFill>
                  <a:srgbClr val="C496A6"/>
                </a:solidFill>
              </a:rPr>
              <a:t>Mega Hackathon 2026</a:t>
            </a:r>
            <a:endParaRPr sz="7200" i="1" dirty="0">
              <a:solidFill>
                <a:srgbClr val="C496A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dirty="0" err="1">
                <a:solidFill>
                  <a:srgbClr val="C496A6"/>
                </a:solidFill>
              </a:rPr>
              <a:t>Cali_Burrito</a:t>
            </a:r>
            <a:endParaRPr sz="7200" b="0" i="0" u="none" strike="noStrike" cap="none" dirty="0">
              <a:solidFill>
                <a:srgbClr val="C496A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C496A6"/>
                </a:solidFill>
              </a:rPr>
              <a:t>48</a:t>
            </a:r>
            <a:endParaRPr sz="7200" dirty="0">
              <a:solidFill>
                <a:srgbClr val="C496A6"/>
              </a:solidFill>
            </a:endParaRPr>
          </a:p>
        </p:txBody>
      </p:sp>
      <p:grpSp>
        <p:nvGrpSpPr>
          <p:cNvPr id="22" name="Google Shape;22;p1"/>
          <p:cNvGrpSpPr/>
          <p:nvPr/>
        </p:nvGrpSpPr>
        <p:grpSpPr>
          <a:xfrm>
            <a:off x="5639608" y="6834030"/>
            <a:ext cx="8157542" cy="1127134"/>
            <a:chOff x="0" y="193102"/>
            <a:chExt cx="6851622" cy="2356048"/>
          </a:xfrm>
        </p:grpSpPr>
        <p:grpSp>
          <p:nvGrpSpPr>
            <p:cNvPr id="23" name="Google Shape;23;p1"/>
            <p:cNvGrpSpPr/>
            <p:nvPr/>
          </p:nvGrpSpPr>
          <p:grpSpPr>
            <a:xfrm>
              <a:off x="0" y="918608"/>
              <a:ext cx="6085558" cy="1630542"/>
              <a:chOff x="0" y="0"/>
              <a:chExt cx="677400" cy="181500"/>
            </a:xfrm>
          </p:grpSpPr>
          <p:sp>
            <p:nvSpPr>
              <p:cNvPr id="24" name="Google Shape;24;p1"/>
              <p:cNvSpPr/>
              <p:nvPr/>
            </p:nvSpPr>
            <p:spPr>
              <a:xfrm>
                <a:off x="0" y="0"/>
                <a:ext cx="677333" cy="181495"/>
              </a:xfrm>
              <a:custGeom>
                <a:avLst/>
                <a:gdLst/>
                <a:ahLst/>
                <a:cxnLst/>
                <a:rect l="l" t="t" r="r" b="b"/>
                <a:pathLst>
                  <a:path w="677333" h="181495" extrusionOk="0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C49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1"/>
              <p:cNvSpPr txBox="1"/>
              <p:nvPr/>
            </p:nvSpPr>
            <p:spPr>
              <a:xfrm>
                <a:off x="0" y="0"/>
                <a:ext cx="677400" cy="18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4400" tIns="44400" rIns="44400" bIns="44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" name="Google Shape;26;p1"/>
            <p:cNvSpPr/>
            <p:nvPr/>
          </p:nvSpPr>
          <p:spPr>
            <a:xfrm rot="-2700000">
              <a:off x="5900094" y="193102"/>
              <a:ext cx="951528" cy="976058"/>
            </a:xfrm>
            <a:custGeom>
              <a:avLst/>
              <a:gdLst/>
              <a:ahLst/>
              <a:cxnLst/>
              <a:rect l="l" t="t" r="r" b="b"/>
              <a:pathLst>
                <a:path w="950999" h="975516" extrusionOk="0">
                  <a:moveTo>
                    <a:pt x="0" y="0"/>
                  </a:moveTo>
                  <a:lnTo>
                    <a:pt x="950999" y="0"/>
                  </a:lnTo>
                  <a:lnTo>
                    <a:pt x="950999" y="975516"/>
                  </a:lnTo>
                  <a:lnTo>
                    <a:pt x="0" y="9755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" name="Google Shape;27;p1"/>
            <p:cNvSpPr txBox="1"/>
            <p:nvPr/>
          </p:nvSpPr>
          <p:spPr>
            <a:xfrm>
              <a:off x="401127" y="1180807"/>
              <a:ext cx="5282700" cy="1106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5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3</a:t>
              </a:r>
              <a:endParaRPr dirty="0"/>
            </a:p>
          </p:txBody>
        </p:sp>
      </p:grpSp>
      <p:sp>
        <p:nvSpPr>
          <p:cNvPr id="28" name="Google Shape;28;p1"/>
          <p:cNvSpPr txBox="1"/>
          <p:nvPr/>
        </p:nvSpPr>
        <p:spPr>
          <a:xfrm rot="-349">
            <a:off x="6420882" y="8863705"/>
            <a:ext cx="59130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3" dirty="0">
                <a:solidFill>
                  <a:srgbClr val="E1CCD3"/>
                </a:solidFill>
              </a:rPr>
              <a:t>March 13,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236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2"/>
          <p:cNvGrpSpPr/>
          <p:nvPr/>
        </p:nvGrpSpPr>
        <p:grpSpPr>
          <a:xfrm>
            <a:off x="-3434739" y="-141856"/>
            <a:ext cx="5066462" cy="10269855"/>
            <a:chOff x="0" y="0"/>
            <a:chExt cx="9398000" cy="19050000"/>
          </a:xfrm>
        </p:grpSpPr>
        <p:sp>
          <p:nvSpPr>
            <p:cNvPr id="34" name="Google Shape;34;p2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 extrusionOk="0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890" r="-28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 extrusionOk="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40" r="-40"/>
              </a:stretch>
            </a:blipFill>
            <a:ln>
              <a:noFill/>
            </a:ln>
          </p:spPr>
        </p:sp>
      </p:grpSp>
      <p:grpSp>
        <p:nvGrpSpPr>
          <p:cNvPr id="36" name="Google Shape;36;p2"/>
          <p:cNvGrpSpPr/>
          <p:nvPr/>
        </p:nvGrpSpPr>
        <p:grpSpPr>
          <a:xfrm>
            <a:off x="1845473" y="514350"/>
            <a:ext cx="15037473" cy="8333763"/>
            <a:chOff x="0" y="-38100"/>
            <a:chExt cx="8590024" cy="11111683"/>
          </a:xfrm>
        </p:grpSpPr>
        <p:sp>
          <p:nvSpPr>
            <p:cNvPr id="37" name="Google Shape;37;p2"/>
            <p:cNvSpPr txBox="1"/>
            <p:nvPr/>
          </p:nvSpPr>
          <p:spPr>
            <a:xfrm>
              <a:off x="0" y="766211"/>
              <a:ext cx="8590024" cy="31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85" b="0" i="0" u="none" strike="noStrike" cap="none" dirty="0">
                  <a:solidFill>
                    <a:srgbClr val="C496A6"/>
                  </a:solidFill>
                  <a:latin typeface="Arial"/>
                  <a:ea typeface="Arial"/>
                  <a:cs typeface="Arial"/>
                  <a:sym typeface="Arial"/>
                </a:rPr>
                <a:t>Understanding the Problem</a:t>
              </a:r>
              <a:endParaRPr dirty="0"/>
            </a:p>
          </p:txBody>
        </p:sp>
        <p:sp>
          <p:nvSpPr>
            <p:cNvPr id="38" name="Google Shape;38;p2"/>
            <p:cNvSpPr txBox="1"/>
            <p:nvPr/>
          </p:nvSpPr>
          <p:spPr>
            <a:xfrm>
              <a:off x="0" y="3071393"/>
              <a:ext cx="6535500" cy="8002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3600" dirty="0">
                  <a:solidFill>
                    <a:schemeClr val="bg2"/>
                  </a:solidFill>
                </a:rPr>
                <a:t>Manual document processing leads to severe bottlenecks, extremely long queues, and an increased risk of human error.</a:t>
              </a:r>
            </a:p>
            <a:p>
              <a:endParaRPr lang="en-US" sz="3600" dirty="0">
                <a:solidFill>
                  <a:schemeClr val="bg2"/>
                </a:solidFill>
              </a:endParaRPr>
            </a:p>
            <a:p>
              <a:r>
                <a:rPr lang="en-US" sz="3600" dirty="0">
                  <a:solidFill>
                    <a:schemeClr val="bg2"/>
                  </a:solidFill>
                </a:rPr>
                <a:t>Border agents are overwhelmed by complex, constantly updating visa policies and must verify identities across fragmented, disconnected databases.</a:t>
              </a:r>
            </a:p>
            <a:p>
              <a:endParaRPr lang="en-US" sz="3600" dirty="0">
                <a:solidFill>
                  <a:schemeClr val="bg2"/>
                </a:solidFill>
              </a:endParaRPr>
            </a:p>
            <a:p>
              <a:r>
                <a:rPr lang="en-US" sz="3600" dirty="0">
                  <a:solidFill>
                    <a:schemeClr val="bg2"/>
                  </a:solidFill>
                </a:rPr>
                <a:t>The current system is slow, stressful, and vulnerable to security oversights.</a:t>
              </a:r>
            </a:p>
            <a:p>
              <a:br>
                <a:rPr lang="en-US" sz="1600" dirty="0"/>
              </a:br>
              <a:endParaRPr lang="en-US" sz="1600" dirty="0">
                <a:solidFill>
                  <a:schemeClr val="bg2"/>
                </a:solidFill>
              </a:endParaRPr>
            </a:p>
            <a:p>
              <a:br>
                <a:rPr lang="en-US" sz="1600" dirty="0"/>
              </a:br>
              <a:endParaRPr dirty="0"/>
            </a:p>
          </p:txBody>
        </p:sp>
        <p:sp>
          <p:nvSpPr>
            <p:cNvPr id="39" name="Google Shape;39;p2"/>
            <p:cNvSpPr txBox="1"/>
            <p:nvPr/>
          </p:nvSpPr>
          <p:spPr>
            <a:xfrm>
              <a:off x="0" y="-38100"/>
              <a:ext cx="82482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74" b="0" i="0" u="none" strike="noStrike" cap="none">
                  <a:solidFill>
                    <a:srgbClr val="E1CCD3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422081"/>
            <a:ext cx="1714500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>
                <a:solidFill>
                  <a:srgbClr val="C496A6"/>
                </a:solidFill>
                <a:latin typeface="Slopes"/>
                <a:ea typeface="Slopes"/>
                <a:cs typeface="Slopes"/>
                <a:sym typeface="Slopes"/>
              </a:rPr>
              <a:t>Identifying Key Challenges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1500" y="3460746"/>
            <a:ext cx="6981825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4500" spc="-135" dirty="0">
                <a:solidFill>
                  <a:srgbClr val="E1CCD3"/>
                </a:solidFill>
                <a:latin typeface="DM Sans"/>
                <a:ea typeface="DM Sans"/>
                <a:cs typeface="DM Sans"/>
                <a:sym typeface="DM Sans"/>
              </a:rPr>
              <a:t>A comprehensive analysis of the core challenges we face.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39250" y="3524074"/>
            <a:ext cx="3723401" cy="1536975"/>
            <a:chOff x="0" y="0"/>
            <a:chExt cx="4964535" cy="2049301"/>
          </a:xfrm>
        </p:grpSpPr>
        <p:sp>
          <p:nvSpPr>
            <p:cNvPr id="5" name="TextBox 5"/>
            <p:cNvSpPr txBox="1"/>
            <p:nvPr/>
          </p:nvSpPr>
          <p:spPr>
            <a:xfrm>
              <a:off x="0" y="687226"/>
              <a:ext cx="4964535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>
                  <a:solidFill>
                    <a:srgbClr val="E1CCD3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The problem involves a critical evaluation of existing digital interfaces and their limitations in delivering user-centric solutions.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4964535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 b="1">
                  <a:solidFill>
                    <a:srgbClr val="E1CCD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Overview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573125" y="3524074"/>
            <a:ext cx="3708475" cy="2308500"/>
            <a:chOff x="0" y="0"/>
            <a:chExt cx="4944633" cy="3078001"/>
          </a:xfrm>
        </p:grpSpPr>
        <p:sp>
          <p:nvSpPr>
            <p:cNvPr id="8" name="TextBox 8"/>
            <p:cNvSpPr txBox="1"/>
            <p:nvPr/>
          </p:nvSpPr>
          <p:spPr>
            <a:xfrm>
              <a:off x="0" y="687226"/>
              <a:ext cx="4944633" cy="2390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>
                  <a:solidFill>
                    <a:srgbClr val="E1CCD3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Our analysis reveals significant usability issues, inadequate functionality, and poor user engagement, which hinder effective interaction and overall user satisfaction with the current digital systems.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4944633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 b="1">
                  <a:solidFill>
                    <a:srgbClr val="E1CCD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Challenges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605000" y="511473"/>
            <a:ext cx="3111500" cy="20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200" b="1" spc="-18">
                <a:solidFill>
                  <a:srgbClr val="E1CCD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83834" y="391161"/>
            <a:ext cx="3111500" cy="20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0"/>
              </a:lnSpc>
            </a:pPr>
            <a:r>
              <a:rPr lang="en-US" sz="1200" b="1" spc="-18" dirty="0">
                <a:solidFill>
                  <a:srgbClr val="E1CCD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1500" y="511473"/>
            <a:ext cx="3111500" cy="20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0"/>
              </a:lnSpc>
            </a:pPr>
            <a:r>
              <a:rPr lang="en-US" sz="1200" b="1" spc="-18">
                <a:solidFill>
                  <a:srgbClr val="E1CCD3"/>
                </a:solidFill>
                <a:latin typeface="DM Sans Bold"/>
                <a:ea typeface="DM Sans Bold"/>
                <a:cs typeface="DM Sans Bold"/>
                <a:sym typeface="DM Sans Bold"/>
              </a:rPr>
              <a:t>PROTOCOL BMSCE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19050"/>
            <a:ext cx="10429875" cy="1026795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C496A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025" y="2311522"/>
            <a:ext cx="6972300" cy="3698593"/>
            <a:chOff x="0" y="0"/>
            <a:chExt cx="9296400" cy="4931458"/>
          </a:xfrm>
        </p:grpSpPr>
        <p:sp>
          <p:nvSpPr>
            <p:cNvPr id="6" name="TextBox 6"/>
            <p:cNvSpPr txBox="1"/>
            <p:nvPr/>
          </p:nvSpPr>
          <p:spPr>
            <a:xfrm>
              <a:off x="0" y="891804"/>
              <a:ext cx="9296400" cy="3341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spc="-284">
                  <a:solidFill>
                    <a:srgbClr val="C496A6"/>
                  </a:solidFill>
                  <a:latin typeface="Slopes"/>
                  <a:ea typeface="Slopes"/>
                  <a:cs typeface="Slopes"/>
                  <a:sym typeface="Slopes"/>
                </a:rPr>
                <a:t>Our Innovative Approach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537758"/>
              <a:ext cx="7366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99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29640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 strike="noStrike" spc="16">
                  <a:solidFill>
                    <a:srgbClr val="E1CCD3"/>
                  </a:solidFill>
                  <a:latin typeface="DM Sans"/>
                  <a:ea typeface="DM Sans"/>
                  <a:cs typeface="DM Sans"/>
                  <a:sym typeface="DM Sans"/>
                </a:rPr>
                <a:t>PROPOSED SOLUTION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7629" y="1633538"/>
            <a:ext cx="13314556" cy="8315185"/>
            <a:chOff x="-372159" y="95250"/>
            <a:chExt cx="16306706" cy="11086911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0"/>
              <a:ext cx="11226800" cy="1123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00"/>
                </a:lnSpc>
              </a:pPr>
              <a:r>
                <a:rPr lang="en-US" sz="6000" spc="-179">
                  <a:solidFill>
                    <a:srgbClr val="C496A6"/>
                  </a:solidFill>
                  <a:latin typeface="Slopes"/>
                  <a:ea typeface="Slopes"/>
                  <a:cs typeface="Slopes"/>
                  <a:sym typeface="Slopes"/>
                </a:rPr>
                <a:t>Solution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72159" y="2154051"/>
              <a:ext cx="16306706" cy="90281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000" b="1" dirty="0">
                  <a:solidFill>
                    <a:schemeClr val="bg2"/>
                  </a:solidFill>
                </a:rPr>
                <a:t>1. </a:t>
              </a:r>
              <a:r>
                <a:rPr lang="en-US" sz="2000" b="1" u="sng" dirty="0">
                  <a:solidFill>
                    <a:schemeClr val="bg2"/>
                  </a:solidFill>
                </a:rPr>
                <a:t>The Input (</a:t>
              </a:r>
              <a:r>
                <a:rPr lang="en-US" sz="2000" b="1" u="sng" dirty="0" err="1">
                  <a:solidFill>
                    <a:schemeClr val="bg2"/>
                  </a:solidFill>
                </a:rPr>
                <a:t>Streamlit</a:t>
              </a:r>
              <a:r>
                <a:rPr lang="en-US" sz="2000" b="1" u="sng" dirty="0">
                  <a:solidFill>
                    <a:schemeClr val="bg2"/>
                  </a:solidFill>
                </a:rPr>
                <a:t> Frontend)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border officer types in the traveler's ID number.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officer uploads a photo of the traveler's physical passport or ID card.</a:t>
              </a:r>
            </a:p>
            <a:p>
              <a:endParaRPr lang="en-US" sz="2000" dirty="0">
                <a:solidFill>
                  <a:schemeClr val="bg2"/>
                </a:solidFill>
              </a:endParaRPr>
            </a:p>
            <a:p>
              <a:r>
                <a:rPr lang="en-US" sz="2000" b="1" dirty="0">
                  <a:solidFill>
                    <a:schemeClr val="bg2"/>
                  </a:solidFill>
                </a:rPr>
                <a:t>2. </a:t>
              </a:r>
              <a:r>
                <a:rPr lang="en-US" sz="2000" b="1" u="sng" dirty="0">
                  <a:solidFill>
                    <a:schemeClr val="bg2"/>
                  </a:solidFill>
                </a:rPr>
                <a:t>Extraction Node (VLM)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Vision-Language Model scans the uploaded image.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It extracts key details (Name, Passport Number, Nationality, Expiry Date) into a clean JSON format.</a:t>
              </a:r>
            </a:p>
            <a:p>
              <a:endParaRPr lang="en-US" sz="2000" dirty="0">
                <a:solidFill>
                  <a:schemeClr val="bg2"/>
                </a:solidFill>
              </a:endParaRPr>
            </a:p>
            <a:p>
              <a:r>
                <a:rPr lang="en-US" sz="2000" b="1" dirty="0">
                  <a:solidFill>
                    <a:schemeClr val="bg2"/>
                  </a:solidFill>
                </a:rPr>
                <a:t>3. </a:t>
              </a:r>
              <a:r>
                <a:rPr lang="en-US" sz="2000" b="1" u="sng" dirty="0">
                  <a:solidFill>
                    <a:schemeClr val="bg2"/>
                  </a:solidFill>
                </a:rPr>
                <a:t>Profile Retrieval Node (MongoDB)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graph takes the officer's typed ID number and queries your MongoDB (or local JSON/CSV file).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It pulls the traveler's existing file (past entry logs, watchlist status).</a:t>
              </a:r>
            </a:p>
            <a:p>
              <a:endParaRPr lang="en-US" sz="2000" dirty="0">
                <a:solidFill>
                  <a:schemeClr val="bg2"/>
                </a:solidFill>
              </a:endParaRPr>
            </a:p>
            <a:p>
              <a:r>
                <a:rPr lang="en-US" sz="2000" b="1" dirty="0">
                  <a:solidFill>
                    <a:schemeClr val="bg2"/>
                  </a:solidFill>
                </a:rPr>
                <a:t>4. </a:t>
              </a:r>
              <a:r>
                <a:rPr lang="en-US" sz="2000" b="1" u="sng" dirty="0">
                  <a:solidFill>
                    <a:schemeClr val="bg2"/>
                  </a:solidFill>
                </a:rPr>
                <a:t>Verification Node (Python Logic)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system cross-references the VLM's extracted text with the database profile.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It immediately flags any discrepancies (e.g., the scanned passport number doesn't match the database).</a:t>
              </a:r>
            </a:p>
            <a:p>
              <a:endParaRPr lang="en-US" sz="2000" dirty="0">
                <a:solidFill>
                  <a:schemeClr val="bg2"/>
                </a:solidFill>
              </a:endParaRPr>
            </a:p>
            <a:p>
              <a:r>
                <a:rPr lang="en-US" sz="2000" b="1" dirty="0">
                  <a:solidFill>
                    <a:schemeClr val="bg2"/>
                  </a:solidFill>
                </a:rPr>
                <a:t>5. </a:t>
              </a:r>
              <a:r>
                <a:rPr lang="en-US" sz="2000" b="1" u="sng" dirty="0">
                  <a:solidFill>
                    <a:schemeClr val="bg2"/>
                  </a:solidFill>
                </a:rPr>
                <a:t>Policy Check Node (Vector DB &amp; RAG)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The graph queries your Vector DB containing official border laws.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It checks rules relevant to the traveler (e.g., "Does a citizen of [Nationality] need a transit visa?").</a:t>
              </a:r>
            </a:p>
            <a:p>
              <a:endParaRPr lang="en-US" sz="2000" dirty="0">
                <a:solidFill>
                  <a:schemeClr val="bg2"/>
                </a:solidFill>
              </a:endParaRPr>
            </a:p>
            <a:p>
              <a:r>
                <a:rPr lang="en-US" sz="2000" b="1" dirty="0">
                  <a:solidFill>
                    <a:schemeClr val="bg2"/>
                  </a:solidFill>
                </a:rPr>
                <a:t>6. </a:t>
              </a:r>
              <a:r>
                <a:rPr lang="en-US" sz="2000" b="1" u="sng" dirty="0">
                  <a:solidFill>
                    <a:schemeClr val="bg2"/>
                  </a:solidFill>
                </a:rPr>
                <a:t>Decision Node (LLM)</a:t>
              </a:r>
            </a:p>
            <a:p>
              <a:r>
                <a:rPr lang="en-US" sz="2000" dirty="0">
                  <a:solidFill>
                    <a:schemeClr val="bg2"/>
                  </a:solidFill>
                </a:rPr>
                <a:t>An LLM evaluates all the gathered data and comes to a conclusion.</a:t>
              </a:r>
              <a:endParaRPr lang="en-US" sz="2000" dirty="0">
                <a:solidFill>
                  <a:srgbClr val="E1CCD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49400"/>
              <a:ext cx="112268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b="1" spc="-135">
                  <a:solidFill>
                    <a:srgbClr val="E1CCD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Overview of Architecture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05375" y="520998"/>
            <a:ext cx="3111500" cy="21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0"/>
              </a:lnSpc>
            </a:pPr>
            <a:r>
              <a:rPr lang="en-US" sz="1400" b="1" spc="-21">
                <a:solidFill>
                  <a:srgbClr val="E1CCD3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 /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500" y="520998"/>
            <a:ext cx="3111500" cy="21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0"/>
              </a:lnSpc>
            </a:pPr>
            <a:r>
              <a:rPr lang="en-US" sz="1400" b="1" spc="-21">
                <a:solidFill>
                  <a:srgbClr val="E1CCD3"/>
                </a:solidFill>
                <a:latin typeface="DM Sans Bold"/>
                <a:ea typeface="DM Sans Bold"/>
                <a:cs typeface="DM Sans Bold"/>
                <a:sym typeface="DM Sans Bold"/>
              </a:rPr>
              <a:t>PROTOCOL BMSCE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028750-779E-2792-0699-203CA1A2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922" y="0"/>
            <a:ext cx="650307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581" y="466822"/>
            <a:ext cx="9621783" cy="4425067"/>
            <a:chOff x="0" y="0"/>
            <a:chExt cx="2534132" cy="116545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E1CCD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0906" y="740259"/>
            <a:ext cx="5828944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C496A6"/>
                </a:solidFill>
                <a:latin typeface="Slopes"/>
                <a:ea typeface="Slopes"/>
                <a:cs typeface="Slopes"/>
                <a:sym typeface="Slopes"/>
              </a:rPr>
              <a:t>Tech Stack Overview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B5A1278-8ABE-462B-4D10-23B2189D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0" y="717819"/>
            <a:ext cx="92125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(Provides the officer's dashboard for ID input and photo uploads).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Orchestration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(Manages the state and transition between the Extraction, Retrieval, and Decision nodes).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0824271-D591-8D4E-3C87-CF66CDC4C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0" y="1916596"/>
            <a:ext cx="94406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(Structured):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(Stores traveler profiles and historical logs).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(Unstructured):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FAISS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(Vector Database for storing and searching border law documents).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 Model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(VLM)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(Handles the "Scan to Text" extraction of physical IDs).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Model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GPT-4o or Gemini 1.5 Pro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(Powers the RAG policy check and final decision logic).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57260" y="880400"/>
            <a:ext cx="10639834" cy="5721122"/>
            <a:chOff x="0" y="0"/>
            <a:chExt cx="2534132" cy="1165450"/>
          </a:xfrm>
          <a:solidFill>
            <a:schemeClr val="bg2"/>
          </a:solidFill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0906" y="740259"/>
            <a:ext cx="5828944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>
                <a:solidFill>
                  <a:srgbClr val="C496A6"/>
                </a:solidFill>
                <a:latin typeface="Slopes"/>
                <a:ea typeface="Slopes"/>
                <a:cs typeface="Slopes"/>
                <a:sym typeface="Slopes"/>
              </a:rPr>
              <a:t>Impact and Benefits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F5BDD1-3987-47EE-4B99-92A23DB1C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665119"/>
              </p:ext>
            </p:extLst>
          </p:nvPr>
        </p:nvGraphicFramePr>
        <p:xfrm>
          <a:off x="7593981" y="1360848"/>
          <a:ext cx="8062331" cy="3749040"/>
        </p:xfrm>
        <a:graphic>
          <a:graphicData uri="http://schemas.openxmlformats.org/drawingml/2006/table">
            <a:tbl>
              <a:tblPr/>
              <a:tblGrid>
                <a:gridCol w="2990281">
                  <a:extLst>
                    <a:ext uri="{9D8B030D-6E8A-4147-A177-3AD203B41FA5}">
                      <a16:colId xmlns:a16="http://schemas.microsoft.com/office/drawing/2014/main" val="1321115636"/>
                    </a:ext>
                  </a:extLst>
                </a:gridCol>
                <a:gridCol w="5072050">
                  <a:extLst>
                    <a:ext uri="{9D8B030D-6E8A-4147-A177-3AD203B41FA5}">
                      <a16:colId xmlns:a16="http://schemas.microsoft.com/office/drawing/2014/main" val="1696605938"/>
                    </a:ext>
                  </a:extLst>
                </a:gridCol>
              </a:tblGrid>
              <a:tr h="191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4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Operational Efficiency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Reduces manual entry time by up to </a:t>
                      </a:r>
                      <a:r>
                        <a:rPr lang="en-US" b="1"/>
                        <a:t>80%</a:t>
                      </a:r>
                      <a:r>
                        <a:rPr lang="en-US"/>
                        <a:t> using VLM automated extraction.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957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Enhanced Security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cross-referencing between physical IDs and MongoDB logs eliminates clerical mismatch errors.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705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Regulatory Compliance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FAISS + RAG ensures that officers always act on the </a:t>
                      </a:r>
                      <a:r>
                        <a:rPr lang="en-US" i="1"/>
                        <a:t>most current</a:t>
                      </a:r>
                      <a:r>
                        <a:rPr lang="en-US"/>
                        <a:t> version of border laws without needing to memorize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881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Cost Effective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Leveraging FAISS (Open Source) and local processing reduces the need for expensive, high-bandwidth cloud infrastructure.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140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185007"/>
            <a:ext cx="16954500" cy="173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9"/>
              </a:lnSpc>
            </a:pPr>
            <a:r>
              <a:rPr lang="en-US" sz="12999" spc="-389">
                <a:solidFill>
                  <a:srgbClr val="C496A6"/>
                </a:solidFill>
                <a:latin typeface="Apricots"/>
                <a:ea typeface="Apricots"/>
                <a:cs typeface="Apricots"/>
                <a:sym typeface="Apricot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Custom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Apricots</vt:lpstr>
      <vt:lpstr>Arial</vt:lpstr>
      <vt:lpstr>Calibri</vt:lpstr>
      <vt:lpstr>DM Sans</vt:lpstr>
      <vt:lpstr>DM Sans Bold</vt:lpstr>
      <vt:lpstr>Slopes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Karthik Reddy</dc:creator>
  <cp:lastModifiedBy>Karthik Reddy</cp:lastModifiedBy>
  <cp:revision>1</cp:revision>
  <dcterms:modified xsi:type="dcterms:W3CDTF">2026-03-13T13:23:14Z</dcterms:modified>
</cp:coreProperties>
</file>